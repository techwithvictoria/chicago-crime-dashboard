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Violent/mo</c:v>
                </c:pt>
              </c:strCache>
            </c:strRef>
          </c:tx>
          <c:spPr>
            <a:solidFill>
              <a:srgbClr val="1F9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Edgewater (D20)</c:v>
                  </c:pt>
                  <c:pt idx="1">
                    <c:v>The Loop (D1)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128.6</c:v>
                </c:pt>
                <c:pt idx="1">
                  <c:v>294.5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2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5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relocating to Chicago for a job in the Loop, safety is the top concern. This project finds the safest neighborhoods that still have a reasonable commute, using two years of city crime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plainly. Emphasize: safety is priority one, but a safe place you can't commute from is useless - so we optimize for both. Audience is the employee, the HR team, and really anyone new to the 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success criteria. The key analytical stance is the first one: we rank on violent crime, because total crime is misleading - which we prove a couple slides from now with Austin.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city data. Call out that I made deliberate cleaning choices - and that I caught a real data-quality bug: the day-of-week column was shifted/misaligned for ~75% of rows, so I recomputed it from each incident's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workflow stages quickly. The point: this wasn't ad-hoc - it followed a standard analytics workflow from question to shareable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answer: Edgewater (District 20). It's lowest on violent crime AND lowest on total crime. The North-side and far-Southwest edges form the safe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analytical centerpiece. Austin has lower total crime than the Loop, yet 44% of its crime is violent vs 26% in the Loop. So ranking by total crime would wrongly call Austin 'safer.' That's why we rank on violent crime.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dashboard's signature chart. The four quadrants make the point visually: the green corner is where you want to live, and Austin sits alone in the red 'deceptive' zone - low total crime but the highest violent share. Edgewater anchors the safe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assumption is that downtown = safe. The data says the opposite: the Loop runs about 2.3x Edgewater's violent crime. So you don't pay a safety premium to live near the office - you'd pay a penalty.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time findings, both straight from the dashboard. Risk is lowest 2-7 AM and peaks midday through evening, but day of week is essentially flat (Friday barely highest), so it isn't worth acting on. The midnight spike is a data artifact - unknown times default to 00:00.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dashboard's map view - districts shaded by violent crime per month on the same green-to-red scale. The safe districts form a ring across the far north side; the higher-crime districts are mostly west and south, away from downtown. The HQ pin sits in the Loop, which is mid-range, reinforcing: live near good transit on the north side, not downtown.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concrete recommendations, all safe AND commutable - proving there's no hard tradeoff. Edgewater is the all-around winner; Beverly is the commute winner with a Metra stop a block from Krasan.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deliverable is an interactive dashboard, not a static report. Demo if time allows: type an address, show the ½-mile crime count and the commute card that recommends walk vs transit. This is what makes it reusable for any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about limits: raw counts not per-capita, transit time via a link not in-app, only 2 years. With more time I'd normalize by population, add a transit API, extend the history, and layer in cost/amenities for a full livability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takeaway and invite questions. Recap: ranked on violent crime (not totals), proved closer isn't safer, and delivered both a recommendation and a reusable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371600"/>
            <a:ext cx="4114800" cy="4114800"/>
          </a:xfrm>
          <a:prstGeom prst="ellipse">
            <a:avLst/>
          </a:prstGeom>
          <a:solidFill>
            <a:srgbClr val="223456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017520"/>
            <a:ext cx="2926080" cy="2926080"/>
          </a:xfrm>
          <a:prstGeom prst="ellipse">
            <a:avLst/>
          </a:prstGeom>
          <a:solidFill>
            <a:srgbClr val="22345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640080"/>
            <a:ext cx="914400" cy="914400"/>
          </a:xfrm>
          <a:prstGeom prst="ellipse">
            <a:avLst/>
          </a:prstGeom>
          <a:solidFill>
            <a:srgbClr val="1F9D6B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8778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DATA-ANALYTICS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Chicago Safety &amp; Commute Atlas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a new hire live to stay safe and still reach the Loop on time?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</a:t>
            </a:r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475,651 incidents analyzed   ·   June 2024-June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SkillBridge participant is relocating to Chicago for a role at Krasan Consulting in the Loop (111 W Jackson Blvd). They're new to the city, safety is their #1 priority, and they're hearing conflicting advice about which areas are safe - with no clear, data-backed way to choose.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806440" y="1371600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F5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Relocating employee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35040" y="2212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safe, commutable home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0" y="27797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relocation team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35040" y="30540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a defensible recommendation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0" y="36210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new to Chicago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35040" y="389534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Vetting a specific address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5074920" cy="914400"/>
          </a:xfrm>
          <a:prstGeom prst="rect">
            <a:avLst/>
          </a:prstGeom>
          <a:solidFill>
            <a:srgbClr val="EDF6F1"/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i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 </a:t>
            </a:r>
            <a:pPr indent="0" marL="0">
              <a:lnSpc>
                <a:spcPct val="112000"/>
              </a:lnSpc>
              <a:buNone/>
            </a:pPr>
            <a:r>
              <a:rPr lang="en-US" sz="1550" i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neighborhoods are genuinely safe AND have a reasonable commute to the Loop?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GOALS &amp; CRITERIA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28800"/>
            <a:ext cx="749808" cy="749808"/>
          </a:xfrm>
          <a:prstGeom prst="ellipse">
            <a:avLst/>
          </a:prstGeom>
          <a:solidFill>
            <a:srgbClr val="1F9D6B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02" y="202375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first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areas by VIOLENT crime, not raw totals - a low total can still hide high violence.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7872" y="1828800"/>
            <a:ext cx="749808" cy="749808"/>
          </a:xfrm>
          <a:prstGeom prst="ellipse">
            <a:avLst/>
          </a:prstGeom>
          <a:solidFill>
            <a:srgbClr val="2D5BA8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22" y="202375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Reasonable commute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20440" y="31546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a one-seat transit ride (or short drive/walk) to the Loop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0760" y="15544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36792" y="1828800"/>
            <a:ext cx="749808" cy="749808"/>
          </a:xfrm>
          <a:prstGeom prst="ellipse">
            <a:avLst/>
          </a:prstGeom>
          <a:solidFill>
            <a:srgbClr val="DB9A2E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742" y="202375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Defensible &amp; repeatable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09360" y="31546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traces to the data; the method works for any address.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years of Chicago crime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475,651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14600" y="1627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analyzed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14600" y="2587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(Jun 2024-Jun 2026)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14600" y="3547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districts · 50 wards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49240" y="141732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F5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PREP DECISIONS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9933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9933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violent crime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- 13 offense types (incl. arson, weapons)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577840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259689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District 31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Non-residential admin area (~21 rows)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577840" y="3200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3200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averages ÷ 24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Comparable per-month rates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7840" y="38039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380390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day-of-week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Source column was misaligned - fixed from the date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City of Chicago "Crimes - 2001 to Present" (Chicago Data Portal, ijzp-q8t2).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solved it - the Data Analytics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914400" cy="914400"/>
          </a:xfrm>
          <a:prstGeom prst="ellipse">
            <a:avLst/>
          </a:prstGeom>
          <a:solidFill>
            <a:srgbClr val="2D5BA8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8379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safe-+-commutable question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783080" y="2057400"/>
            <a:ext cx="411480" cy="0"/>
          </a:xfrm>
          <a:prstGeom prst="line">
            <a:avLst/>
          </a:prstGeom>
          <a:noFill/>
          <a:ln w="19050">
            <a:solidFill>
              <a:srgbClr val="4A5E8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23744" y="1600200"/>
            <a:ext cx="914400" cy="914400"/>
          </a:xfrm>
          <a:prstGeom prst="ellipse">
            <a:avLst/>
          </a:prstGeom>
          <a:solidFill>
            <a:srgbClr val="2D5BA8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8379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23744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203704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157984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&amp; clean 2 yrs of city data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83864" y="2057400"/>
            <a:ext cx="411480" cy="0"/>
          </a:xfrm>
          <a:prstGeom prst="line">
            <a:avLst/>
          </a:prstGeom>
          <a:noFill/>
          <a:ln w="19050">
            <a:solidFill>
              <a:srgbClr val="4A5E8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224528" y="1600200"/>
            <a:ext cx="914400" cy="914400"/>
          </a:xfrm>
          <a:prstGeom prst="ellipse">
            <a:avLst/>
          </a:prstGeom>
          <a:solidFill>
            <a:srgbClr val="2D5BA8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83794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24528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904488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858768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violent crime, fix day-of-week, ÷24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184648" y="2057400"/>
            <a:ext cx="411480" cy="0"/>
          </a:xfrm>
          <a:prstGeom prst="line">
            <a:avLst/>
          </a:prstGeom>
          <a:noFill/>
          <a:ln w="19050">
            <a:solidFill>
              <a:srgbClr val="4A5E8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925312" y="1600200"/>
            <a:ext cx="914400" cy="914400"/>
          </a:xfrm>
          <a:prstGeom prst="ellipse">
            <a:avLst/>
          </a:prstGeom>
          <a:solidFill>
            <a:srgbClr val="2D5BA8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837944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925312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605272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559552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districts, find the patterns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885432" y="2057400"/>
            <a:ext cx="411480" cy="0"/>
          </a:xfrm>
          <a:prstGeom prst="line">
            <a:avLst/>
          </a:prstGeom>
          <a:noFill/>
          <a:ln w="19050">
            <a:solidFill>
              <a:srgbClr val="4A5E80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626096" y="1600200"/>
            <a:ext cx="914400" cy="914400"/>
          </a:xfrm>
          <a:prstGeom prst="ellipse">
            <a:avLst/>
          </a:prstGeom>
          <a:solidFill>
            <a:srgbClr val="1F9D6B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837944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626096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306056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7260336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+ this deck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0292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recommendation you can defend - and a tool to re-run for any address.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FINDING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Edgewater is the safest district</a:t>
            </a:r>
            <a:endParaRPr lang="en-US" sz="3000" dirty="0"/>
          </a:p>
        </p:txBody>
      </p:sp>
      <p:pic>
        <p:nvPicPr>
          <p:cNvPr id="4" name="Image 0" descr="chart_viol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02920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463040"/>
            <a:ext cx="2194560" cy="3246120"/>
          </a:xfrm>
          <a:prstGeom prst="roundRect">
            <a:avLst>
              <a:gd name="adj" fmla="val 3333"/>
            </a:avLst>
          </a:prstGeom>
          <a:solidFill>
            <a:srgbClr val="EDF6F1"/>
          </a:solidFill>
          <a:ln w="12700">
            <a:solidFill>
              <a:srgbClr val="CDE9DC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75120" y="1664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VIOLENT CRIME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75120" y="20574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675120" y="2724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Edgewater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675120" y="31272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~129</a:t>
            </a:r>
            <a:pPr indent="0" marL="0">
              <a:buNone/>
            </a:pPr>
            <a:r>
              <a:rPr lang="en-US" sz="13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violent / month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75120" y="3520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lowest on TOTAL crime - safest on both measures.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4754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violent incidents per month, by police district (sorted). Chart from the live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FINDING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crime alone is misleading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three districts: a low total doesn't mean safe. Austin proves it - modest volume, but the highest violent share in the city.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DF6F1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Edgewater · D20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30.6%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456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share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total/mo</a:t>
            </a:r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128.6 violent/mo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total, low violence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8745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BEDEC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Austin · D15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4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44.4%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20440" y="3456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share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 total/mo</a:t>
            </a:r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294 violent/mo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2044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Low-ish total, HIGH violence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8745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BF3E3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B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· D1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09360" y="2743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B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25.9%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309360" y="3456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share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1137 total/mo</a:t>
            </a:r>
            <a:pPr indent="0" marL="0">
              <a:buNone/>
            </a:pPr>
            <a:r>
              <a:rPr lang="en-US" sz="11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294.5 violent/mo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0936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total, lower violent share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 violent share ≈ 35%. Austin sits at 44% despite below-median total crime.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landscape: volume vs. violence</a:t>
            </a:r>
            <a:endParaRPr lang="en-US" sz="3000" dirty="0"/>
          </a:p>
        </p:txBody>
      </p:sp>
      <p:pic>
        <p:nvPicPr>
          <p:cNvPr id="4" name="Image 0" descr="chart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5532120" cy="3511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0" y="1463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district plotted by total crime (x) and violent share (y), split at the citywide medians into four zones: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080760" y="2423160"/>
            <a:ext cx="146304" cy="146304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2350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low violence - e.g. Edgewater (20).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80760" y="2990088"/>
            <a:ext cx="146304" cy="146304"/>
          </a:xfrm>
          <a:prstGeom prst="ellipse">
            <a:avLst/>
          </a:prstGeom>
          <a:solidFill>
            <a:srgbClr val="D64541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291693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 but HIGH violence - Austin (15) is the trap.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3557016"/>
            <a:ext cx="146304" cy="146304"/>
          </a:xfrm>
          <a:prstGeom prst="ellipse">
            <a:avLst/>
          </a:prstGeom>
          <a:solidFill>
            <a:srgbClr val="DB9A2E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34838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B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Busy, less violent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lower violent share - the Loop (1).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80760" y="4123944"/>
            <a:ext cx="146304" cy="146304"/>
          </a:xfrm>
          <a:prstGeom prst="ellipse">
            <a:avLst/>
          </a:prstGeom>
          <a:solidFill>
            <a:srgbClr val="8A2E2E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4050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 both - avoid for relocation.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version (hover any district) on the live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FINDING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Living closer to the office isn't safer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8463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1783080"/>
            <a:ext cx="3108960" cy="2377440"/>
          </a:xfrm>
          <a:prstGeom prst="roundRect">
            <a:avLst>
              <a:gd name="adj" fmla="val 3846"/>
            </a:avLst>
          </a:prstGeom>
          <a:solidFill>
            <a:srgbClr val="14233A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15000" y="19659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FE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2.3×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760720" y="2880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violent crime in the Loop than in Edgewater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760720" y="3611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~295 vs ~129 violent incidents per month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 has more crime, not less - proximity to the office works against safety.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FINDING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of day matters more than day of week</a:t>
            </a:r>
            <a:endParaRPr lang="en-US" sz="3000" dirty="0"/>
          </a:p>
        </p:txBody>
      </p:sp>
      <p:pic>
        <p:nvPicPr>
          <p:cNvPr id="4" name="Image 0" descr="chart_h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72768"/>
            <a:ext cx="4343400" cy="2542032"/>
          </a:xfrm>
          <a:prstGeom prst="rect">
            <a:avLst/>
          </a:prstGeom>
        </p:spPr>
      </p:pic>
      <p:pic>
        <p:nvPicPr>
          <p:cNvPr id="5" name="Image 1" descr="chart_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72768"/>
            <a:ext cx="3886200" cy="24505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42245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hour: deep dip 2-7 AM, then a midday-and-evening peak.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892040" y="42245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day: nearly flat - Friday only barely highest.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100" i="1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around the hour, not the day. (The 00:00 point is inflated by unknown-time reports.)  Both charts from the live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safety gradient, mapped</a:t>
            </a:r>
            <a:endParaRPr lang="en-US" sz="3000" dirty="0"/>
          </a:p>
        </p:txBody>
      </p:sp>
      <p:pic>
        <p:nvPicPr>
          <p:cNvPr id="4" name="Image 0" descr="chart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25880"/>
            <a:ext cx="5852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55080" y="1417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police district shaded by violent crime per month - the same green-to-red scale as the live map.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355080" y="2496312"/>
            <a:ext cx="146304" cy="146304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2423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ring up north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Edgewater, Jefferson Park, Albany Park, Logan Square - all green.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5080" y="3209544"/>
            <a:ext cx="146304" cy="146304"/>
          </a:xfrm>
          <a:prstGeom prst="ellipse">
            <a:avLst/>
          </a:prstGeom>
          <a:solidFill>
            <a:srgbClr val="D64541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31363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Hotter west &amp; south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red districts sit far from the office anyway.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3922776"/>
            <a:ext cx="146304" cy="146304"/>
          </a:xfrm>
          <a:prstGeom prst="ellipse">
            <a:avLst/>
          </a:prstGeom>
          <a:solidFill>
            <a:srgbClr val="14233A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384962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in the Loop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Central, busy, mid-range on violence - live near transit, not here.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48646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from the dashboard's district layer (street basemap not shown).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neighborhoods that fit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83080"/>
                <a:gridCol w="640080"/>
                <a:gridCol w="1143000"/>
                <a:gridCol w="30175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Neighborhood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Violent/mo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 to the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Line direct, ~35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all-around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Metra Rock Island → LaSalle, ~25-30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Easiest commute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Logan Square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Line direct, ~20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Jefferson Park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Line direct, ~40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Quietest feel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Albany Park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Line, ~45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pick: Edgewater</a:t>
            </a:r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safest overall.   </a:t>
            </a:r>
            <a:pPr indent="0" marL="0">
              <a:buNone/>
            </a:pPr>
            <a:r>
              <a:rPr lang="en-US" sz="1250" b="1" dirty="0">
                <a:solidFill>
                  <a:srgbClr val="2D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commute: Beverly</a:t>
            </a:r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Metra drops you a block from the office.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THE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atlas - not just a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223456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83080"/>
            <a:ext cx="685800" cy="685800"/>
          </a:xfrm>
          <a:prstGeom prst="ellipse">
            <a:avLst/>
          </a:prstGeom>
          <a:solidFill>
            <a:srgbClr val="16314F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9613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099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any layer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0756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 districts, wards, or beats by violent or total crime.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223456"/>
          </a:solidFill>
          <a:ln/>
        </p:spPr>
      </p:sp>
      <p:sp>
        <p:nvSpPr>
          <p:cNvPr id="10" name="Shape 7"/>
          <p:cNvSpPr/>
          <p:nvPr/>
        </p:nvSpPr>
        <p:spPr>
          <a:xfrm>
            <a:off x="4956048" y="1783080"/>
            <a:ext cx="685800" cy="685800"/>
          </a:xfrm>
          <a:prstGeom prst="ellipse">
            <a:avLst/>
          </a:prstGeom>
          <a:solidFill>
            <a:srgbClr val="16314F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356" y="19613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7099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any address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06440" y="20756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its ½-mile crime count and nearest CTA/Metra stop.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29260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223456"/>
          </a:solidFill>
          <a:ln/>
        </p:spPr>
      </p:sp>
      <p:sp>
        <p:nvSpPr>
          <p:cNvPr id="15" name="Shape 11"/>
          <p:cNvSpPr/>
          <p:nvPr/>
        </p:nvSpPr>
        <p:spPr>
          <a:xfrm>
            <a:off x="704088" y="3200400"/>
            <a:ext cx="685800" cy="685800"/>
          </a:xfrm>
          <a:prstGeom prst="ellipse">
            <a:avLst/>
          </a:prstGeom>
          <a:solidFill>
            <a:srgbClr val="16314F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33787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1272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the commute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34930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driving route + walk + transit time to the Loop.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223456"/>
          </a:solidFill>
          <a:ln/>
        </p:spPr>
      </p:sp>
      <p:sp>
        <p:nvSpPr>
          <p:cNvPr id="20" name="Shape 15"/>
          <p:cNvSpPr/>
          <p:nvPr/>
        </p:nvSpPr>
        <p:spPr>
          <a:xfrm>
            <a:off x="4956048" y="3200400"/>
            <a:ext cx="685800" cy="685800"/>
          </a:xfrm>
          <a:prstGeom prst="ellipse">
            <a:avLst/>
          </a:prstGeom>
          <a:solidFill>
            <a:srgbClr val="16314F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356" y="33787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1272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recommendation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806440" y="34930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walk vs. transit automatically by distance.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9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techwithvictoria.github.io/chicago-crime-dashboard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do with more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819656"/>
            <a:ext cx="658368" cy="658368"/>
          </a:xfrm>
          <a:prstGeom prst="ellipse">
            <a:avLst/>
          </a:prstGeom>
          <a:solidFill>
            <a:srgbClr val="2D5BA8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552" y="1990832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282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Per-capita rates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09397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district population to normalize for size - fairer than raw counts.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74336" y="1819656"/>
            <a:ext cx="658368" cy="658368"/>
          </a:xfrm>
          <a:prstGeom prst="ellipse">
            <a:avLst/>
          </a:prstGeom>
          <a:solidFill>
            <a:srgbClr val="DB9A2E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512" y="1990832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7282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transit times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06440" y="209397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transit API for exact door-to-door commute minutes in-app.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29718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3282696"/>
            <a:ext cx="658368" cy="658368"/>
          </a:xfrm>
          <a:prstGeom prst="ellipse">
            <a:avLst/>
          </a:prstGeom>
          <a:solidFill>
            <a:srgbClr val="2D5BA8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552" y="3453872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191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history &amp; trends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355701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2 years to test whether areas are improving or worsening.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29718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74336" y="3282696"/>
            <a:ext cx="658368" cy="658368"/>
          </a:xfrm>
          <a:prstGeom prst="ellipse">
            <a:avLst/>
          </a:prstGeom>
          <a:solidFill>
            <a:srgbClr val="DB9A2E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512" y="3453872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191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amenities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806440" y="355701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rent, schools, and grocery access for a true livability score.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743200"/>
            <a:ext cx="3657600" cy="3657600"/>
          </a:xfrm>
          <a:prstGeom prst="ellipse">
            <a:avLst/>
          </a:prstGeom>
          <a:solidFill>
            <a:srgbClr val="22345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280160"/>
            <a:ext cx="3291840" cy="3291840"/>
          </a:xfrm>
          <a:prstGeom prst="ellipse">
            <a:avLst/>
          </a:prstGeom>
          <a:solidFill>
            <a:srgbClr val="22345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868680"/>
            <a:ext cx="868680" cy="868680"/>
          </a:xfrm>
          <a:prstGeom prst="ellipse">
            <a:avLst/>
          </a:prstGeom>
          <a:solidFill>
            <a:srgbClr val="1F9D6B"/>
          </a:solidFill>
          <a:ln/>
          <a:effectLst>
            <a:outerShdw sx="100000" sy="100000" kx="0" ky="0" algn="bl" rotWithShape="0" blurRad="88900" dist="38100" dir="5400000">
              <a:srgbClr val="8794A8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777" y="10945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Edgewater is the safest bet, the Loop is riskier than it looks, and every safe pick still reaches the office.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475,651 incidents  ·  ranked on violent crime  ·  matched to commute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 </a:t>
            </a:r>
            <a:pPr indent="0" marL="0">
              <a:buNone/>
            </a:pPr>
            <a:r>
              <a:rPr lang="en-US" sz="1400" dirty="0">
                <a:solidFill>
                  <a:srgbClr val="9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techwithvictoria.github.io/chicago-crime-dashboard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Chicago Safety &amp; Commute Atlas</dc:title>
  <dc:subject>PptxGenJS Presentation</dc:subject>
  <dc:creator>Victoria</dc:creator>
  <cp:lastModifiedBy>Victoria</cp:lastModifiedBy>
  <cp:revision>1</cp:revision>
  <dcterms:created xsi:type="dcterms:W3CDTF">2026-06-17T01:01:35Z</dcterms:created>
  <dcterms:modified xsi:type="dcterms:W3CDTF">2026-06-17T01:01:35Z</dcterms:modified>
</cp:coreProperties>
</file>