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ia Nguyen" userId="164d4bea6cd7b82e" providerId="LiveId" clId="{CD2AE2A6-83EE-4C2C-9D53-44CF7BCD11CE}"/>
    <pc:docChg chg="custSel modSld">
      <pc:chgData name="Victoria Nguyen" userId="164d4bea6cd7b82e" providerId="LiveId" clId="{CD2AE2A6-83EE-4C2C-9D53-44CF7BCD11CE}" dt="2026-06-16T22:26:19.072" v="15" actId="5793"/>
      <pc:docMkLst>
        <pc:docMk/>
      </pc:docMkLst>
      <pc:sldChg chg="delSp modSp mod">
        <pc:chgData name="Victoria Nguyen" userId="164d4bea6cd7b82e" providerId="LiveId" clId="{CD2AE2A6-83EE-4C2C-9D53-44CF7BCD11CE}" dt="2026-06-16T22:25:33.526" v="1" actId="478"/>
        <pc:sldMkLst>
          <pc:docMk/>
          <pc:sldMk cId="0" sldId="259"/>
        </pc:sldMkLst>
        <pc:spChg chg="del">
          <ac:chgData name="Victoria Nguyen" userId="164d4bea6cd7b82e" providerId="LiveId" clId="{CD2AE2A6-83EE-4C2C-9D53-44CF7BCD11CE}" dt="2026-06-16T22:25:33.526" v="1" actId="478"/>
          <ac:spMkLst>
            <pc:docMk/>
            <pc:sldMk cId="0" sldId="259"/>
            <ac:spMk id="18" creationId="{00000000-0000-0000-0000-000000000000}"/>
          </ac:spMkLst>
        </pc:spChg>
        <pc:spChg chg="mod">
          <ac:chgData name="Victoria Nguyen" userId="164d4bea6cd7b82e" providerId="LiveId" clId="{CD2AE2A6-83EE-4C2C-9D53-44CF7BCD11CE}" dt="2026-06-16T22:25:30.702" v="0" actId="20577"/>
          <ac:spMkLst>
            <pc:docMk/>
            <pc:sldMk cId="0" sldId="259"/>
            <ac:spMk id="19" creationId="{00000000-0000-0000-0000-000000000000}"/>
          </ac:spMkLst>
        </pc:spChg>
      </pc:sldChg>
      <pc:sldChg chg="modSp mod">
        <pc:chgData name="Victoria Nguyen" userId="164d4bea6cd7b82e" providerId="LiveId" clId="{CD2AE2A6-83EE-4C2C-9D53-44CF7BCD11CE}" dt="2026-06-16T22:26:19.072" v="15" actId="5793"/>
        <pc:sldMkLst>
          <pc:docMk/>
          <pc:sldMk cId="0" sldId="260"/>
        </pc:sldMkLst>
        <pc:spChg chg="mod">
          <ac:chgData name="Victoria Nguyen" userId="164d4bea6cd7b82e" providerId="LiveId" clId="{CD2AE2A6-83EE-4C2C-9D53-44CF7BCD11CE}" dt="2026-06-16T22:26:09.984" v="2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Victoria Nguyen" userId="164d4bea6cd7b82e" providerId="LiveId" clId="{CD2AE2A6-83EE-4C2C-9D53-44CF7BCD11CE}" dt="2026-06-16T22:26:19.072" v="15" actId="5793"/>
          <ac:spMkLst>
            <pc:docMk/>
            <pc:sldMk cId="0" sldId="260"/>
            <ac:spMk id="20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Violent/mo</c:v>
                </c:pt>
              </c:strCache>
            </c:strRef>
          </c:tx>
          <c:spPr>
            <a:solidFill>
              <a:srgbClr val="2D5BA8"/>
            </a:solidFill>
            <a:effectLst/>
          </c:spPr>
          <c:invertIfNegative val="0"/>
          <c:cat>
            <c:strRef>
              <c:f>Sheet1!$A$2:$A$23</c:f>
              <c:strCache>
                <c:ptCount val="22"/>
                <c:pt idx="0">
                  <c:v>D20</c:v>
                </c:pt>
                <c:pt idx="1">
                  <c:v>D14</c:v>
                </c:pt>
                <c:pt idx="2">
                  <c:v>D17</c:v>
                </c:pt>
                <c:pt idx="3">
                  <c:v>D16</c:v>
                </c:pt>
                <c:pt idx="4">
                  <c:v>D24</c:v>
                </c:pt>
                <c:pt idx="5">
                  <c:v>D22</c:v>
                </c:pt>
                <c:pt idx="6">
                  <c:v>D19</c:v>
                </c:pt>
                <c:pt idx="7">
                  <c:v>D18</c:v>
                </c:pt>
                <c:pt idx="8">
                  <c:v>D15</c:v>
                </c:pt>
                <c:pt idx="9">
                  <c:v>D1</c:v>
                </c:pt>
                <c:pt idx="10">
                  <c:v>D5</c:v>
                </c:pt>
                <c:pt idx="11">
                  <c:v>D10</c:v>
                </c:pt>
                <c:pt idx="12">
                  <c:v>D25</c:v>
                </c:pt>
                <c:pt idx="13">
                  <c:v>D9</c:v>
                </c:pt>
                <c:pt idx="14">
                  <c:v>D2</c:v>
                </c:pt>
                <c:pt idx="15">
                  <c:v>D12</c:v>
                </c:pt>
                <c:pt idx="16">
                  <c:v>D7</c:v>
                </c:pt>
                <c:pt idx="17">
                  <c:v>D4</c:v>
                </c:pt>
                <c:pt idx="18">
                  <c:v>D11</c:v>
                </c:pt>
                <c:pt idx="19">
                  <c:v>D3</c:v>
                </c:pt>
                <c:pt idx="20">
                  <c:v>D6</c:v>
                </c:pt>
                <c:pt idx="21">
                  <c:v>D8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128.6</c:v>
                </c:pt>
                <c:pt idx="1">
                  <c:v>169.2</c:v>
                </c:pt>
                <c:pt idx="2">
                  <c:v>173.5</c:v>
                </c:pt>
                <c:pt idx="3">
                  <c:v>191.7</c:v>
                </c:pt>
                <c:pt idx="4">
                  <c:v>213</c:v>
                </c:pt>
                <c:pt idx="5">
                  <c:v>213.2</c:v>
                </c:pt>
                <c:pt idx="6">
                  <c:v>252.9</c:v>
                </c:pt>
                <c:pt idx="7">
                  <c:v>268.7</c:v>
                </c:pt>
                <c:pt idx="8">
                  <c:v>294</c:v>
                </c:pt>
                <c:pt idx="9">
                  <c:v>294.5</c:v>
                </c:pt>
                <c:pt idx="10">
                  <c:v>302.89999999999998</c:v>
                </c:pt>
                <c:pt idx="11">
                  <c:v>342.9</c:v>
                </c:pt>
                <c:pt idx="12">
                  <c:v>352.9</c:v>
                </c:pt>
                <c:pt idx="13">
                  <c:v>354.4</c:v>
                </c:pt>
                <c:pt idx="14">
                  <c:v>357.7</c:v>
                </c:pt>
                <c:pt idx="15">
                  <c:v>364.5</c:v>
                </c:pt>
                <c:pt idx="16">
                  <c:v>385.8</c:v>
                </c:pt>
                <c:pt idx="17">
                  <c:v>424.3</c:v>
                </c:pt>
                <c:pt idx="18">
                  <c:v>431</c:v>
                </c:pt>
                <c:pt idx="19">
                  <c:v>452</c:v>
                </c:pt>
                <c:pt idx="20">
                  <c:v>454.8</c:v>
                </c:pt>
                <c:pt idx="21">
                  <c:v>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D64-4164-BA54-45F678651B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5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5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Violent/mo</c:v>
                </c:pt>
              </c:strCache>
            </c:strRef>
          </c:tx>
          <c:spPr>
            <a:solidFill>
              <a:srgbClr val="1F9D6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A223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Edgewater (D20)</c:v>
                </c:pt>
                <c:pt idx="1">
                  <c:v>The Loop (D1)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128.6</c:v>
                </c:pt>
                <c:pt idx="1">
                  <c:v>294.5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64-4179-B1A8-3C1F2C4D7EC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2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5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crime</c:v>
                </c:pt>
              </c:strCache>
            </c:strRef>
          </c:tx>
          <c:spPr>
            <a:ln w="31750" cap="flat">
              <a:solidFill>
                <a:srgbClr val="2D5B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D5BA8"/>
              </a:solidFill>
              <a:ln w="9525" cap="flat">
                <a:solidFill>
                  <a:srgbClr val="2D5BA8"/>
                </a:solidFill>
                <a:prstDash val="solid"/>
                <a:round/>
              </a:ln>
              <a:effectLst/>
            </c:spPr>
          </c:marker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6.75</c:v>
                </c:pt>
                <c:pt idx="1">
                  <c:v>3.3</c:v>
                </c:pt>
                <c:pt idx="2">
                  <c:v>2.95</c:v>
                </c:pt>
                <c:pt idx="3">
                  <c:v>2.64</c:v>
                </c:pt>
                <c:pt idx="4">
                  <c:v>2.14</c:v>
                </c:pt>
                <c:pt idx="5">
                  <c:v>1.86</c:v>
                </c:pt>
                <c:pt idx="6">
                  <c:v>2.0099999999999998</c:v>
                </c:pt>
                <c:pt idx="7">
                  <c:v>2.6</c:v>
                </c:pt>
                <c:pt idx="8">
                  <c:v>3.45</c:v>
                </c:pt>
                <c:pt idx="9">
                  <c:v>4.12</c:v>
                </c:pt>
                <c:pt idx="10">
                  <c:v>4.29</c:v>
                </c:pt>
                <c:pt idx="11">
                  <c:v>4.42</c:v>
                </c:pt>
                <c:pt idx="12">
                  <c:v>5.69</c:v>
                </c:pt>
                <c:pt idx="13">
                  <c:v>4.57</c:v>
                </c:pt>
                <c:pt idx="14">
                  <c:v>4.84</c:v>
                </c:pt>
                <c:pt idx="15">
                  <c:v>5.43</c:v>
                </c:pt>
                <c:pt idx="16">
                  <c:v>5.37</c:v>
                </c:pt>
                <c:pt idx="17">
                  <c:v>5.36</c:v>
                </c:pt>
                <c:pt idx="18">
                  <c:v>5.32</c:v>
                </c:pt>
                <c:pt idx="19">
                  <c:v>5.2</c:v>
                </c:pt>
                <c:pt idx="20">
                  <c:v>4.93</c:v>
                </c:pt>
                <c:pt idx="21">
                  <c:v>4.53</c:v>
                </c:pt>
                <c:pt idx="22">
                  <c:v>4.32</c:v>
                </c:pt>
                <c:pt idx="23">
                  <c:v>3.92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38FD-4C2D-8ED6-1729E5F852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585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6B7585"/>
                    </a:solidFill>
                    <a:latin typeface="Arial"/>
                  </a:rPr>
                  <a:t>Hour of day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5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5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9511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relocating to Chicago for a job in the Loop, safety is the top concern. This project finds the safest neighborhoods that still have a reasonable commute, using two years of city crime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problem plainly. Emphasize: safety is priority one, but a safe place you can't commute from is useless - so we optimize for both. Audience is the employee, the HR team, and really anyone new to the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success criteria. The key analytical stance is the first one: we rank on violent crime, because total crime is misleading - which we prove a couple slides from now with Austin.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city data. Call out that I made deliberate cleaning choices - and that I caught a real data-quality bug: the day-of-week column was shifted/misaligned for ~75% of rows, so I recomputed it from each incident's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workflow stages quickly. The point: this wasn't ad-hoc - it followed a standard analytics workflow from question to shareable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answer: Edgewater (District 20). It's lowest on violent crime AND lowest on total crime. The North-side and far-Southwest edges form the safe cluster.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analytical centerpiece. Austin has lower total crime than the Loop, yet 44% of its crime is violent vs 26% in the Loop. So ranking by total crime would wrongly call Austin 'safer.' That's why we rank on violent crime.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assumption is that downtown = safe. The data says the opposite: the Loop runs about 2.3x Edgewater's violent crime. So you don't pay a safety premium to live near the office - you'd pay a penalty.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time findings. Risk is lowest 2-7 AM and peaks midday through evening. Day of week is essentially flat (Friday barely highest), so it's not worth acting on. Note the midnight spike is a data artifact - unknown times default to 00:00.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concrete recommendations, all safe AND commutable - proving there's no hard tradeoff. Edgewater is the all-around winner; Beverly is the commute winner with a Metra stop a block from Krasan.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deliverable is an interactive dashboard, not a static report. Demo if time allows: type an address, show the ½-mile crime count and the commute card that recommends walk vs transit. This is what makes it reusable for any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about limits: raw counts not per-capita, transit time via a link not in-app, only 2 years. With more time I'd normalize by population, add a transit API, extend the history, and layer in cost/amenities for a full livability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one-line takeaway and invite questions. Recap: ranked on violent crime (not totals), proved closer isn't safer, and delivered both a recommendation and a reusable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371600"/>
            <a:ext cx="4114800" cy="4114800"/>
          </a:xfrm>
          <a:prstGeom prst="ellipse">
            <a:avLst/>
          </a:prstGeom>
          <a:solidFill>
            <a:srgbClr val="2234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046720" y="3017520"/>
            <a:ext cx="2926080" cy="2926080"/>
          </a:xfrm>
          <a:prstGeom prst="ellipse">
            <a:avLst/>
          </a:prstGeom>
          <a:solidFill>
            <a:srgbClr val="2234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640080"/>
            <a:ext cx="914400" cy="914400"/>
          </a:xfrm>
          <a:prstGeom prst="ellipse">
            <a:avLst/>
          </a:prstGeom>
          <a:solidFill>
            <a:srgbClr val="1F9D6B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8778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783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F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CHICAGO DATA-ANALYTICS PROJECT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Chicago Safety &amp; Commute Atlas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should a new hire live to stay safe and still reach the Loop on time?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864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r>
              <a:rPr lang="en-US" sz="13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475,651 incidents analyzed   ·   June 2024-June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SkillBridge participant is relocating to Chicago for a role at Krasan Consulting in the Loop (111 W Jackson Blvd). They're new to the city, safety is their #1 priority, and they're hearing conflicting advice about which areas are safe - with no clear, data-backed way to choose.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806440" y="1371600"/>
            <a:ext cx="2834640" cy="3108960"/>
          </a:xfrm>
          <a:prstGeom prst="roundRect">
            <a:avLst>
              <a:gd name="adj" fmla="val 2581"/>
            </a:avLst>
          </a:prstGeom>
          <a:solidFill>
            <a:srgbClr val="F5F7F9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035040" y="1572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35040" y="19385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Relocating employee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035040" y="221284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safe, commutable home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035040" y="27797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/ relocation team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035040" y="305409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 defensible recommendation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0" y="36210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new to Chicago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035040" y="389534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Vetting a specific address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337560"/>
            <a:ext cx="5074920" cy="914400"/>
          </a:xfrm>
          <a:prstGeom prst="rect">
            <a:avLst/>
          </a:prstGeom>
          <a:solidFill>
            <a:srgbClr val="EDF6F1"/>
          </a:solidFill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550" b="1" i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 </a:t>
            </a:r>
            <a:r>
              <a:rPr lang="en-US" sz="1550" i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neighborhoods are genuinely safe AND have a reasonable commute to the Loop?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GOALS &amp; CRITERIA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good answer looks like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8952" y="1828800"/>
            <a:ext cx="749808" cy="749808"/>
          </a:xfrm>
          <a:prstGeom prst="ellipse">
            <a:avLst/>
          </a:prstGeom>
          <a:solidFill>
            <a:srgbClr val="1F9D6B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02" y="202375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first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31520" y="315468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areas by VIOLENT crime, not raw totals - a low total can still hide high violence.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91840" y="15544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547872" y="1828800"/>
            <a:ext cx="749808" cy="749808"/>
          </a:xfrm>
          <a:prstGeom prst="ellipse">
            <a:avLst/>
          </a:prstGeom>
          <a:solidFill>
            <a:srgbClr val="2D5BA8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2822" y="202375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Reasonable commute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520440" y="315468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 a one-seat transit ride (or short drive/walk) to the Loop office.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80760" y="15544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336792" y="1828800"/>
            <a:ext cx="749808" cy="749808"/>
          </a:xfrm>
          <a:prstGeom prst="ellipse">
            <a:avLst/>
          </a:prstGeom>
          <a:solidFill>
            <a:srgbClr val="DB9A2E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742" y="202375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936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Defensible &amp; repeatable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6309360" y="315468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traces to the data; the method works for any address.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years of Chicago crime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5B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475,651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514600" y="1627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analyzed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2468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5B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514600" y="25877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(Jun 2024-Jun 2026)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3429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D5B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35478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districts · 50 wards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49240" y="14173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F5F7F9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577840" y="16276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PREP DECISIONS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77840" y="199339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60720" y="199339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violent crime  </a:t>
            </a: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- 13 offense types (incl. arson, weapons)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577840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760720" y="259689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District 31  </a:t>
            </a: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Non-residential admin area (~21 rows)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577840" y="32004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60720" y="32004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averages ÷ 24  </a:t>
            </a: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Comparable per-month rates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60720" y="380390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City of Chicago "Crimes - 2001 to Present" (Chicago Data Portal, ijzp-q8t2).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THE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 solved it - the Data Analytics Workflow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914400" cy="914400"/>
          </a:xfrm>
          <a:prstGeom prst="ellipse">
            <a:avLst/>
          </a:prstGeom>
          <a:solidFill>
            <a:srgbClr val="2D5BA8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183794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30632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the safe-+-commutable question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783080" y="2057400"/>
            <a:ext cx="411480" cy="0"/>
          </a:xfrm>
          <a:prstGeom prst="line">
            <a:avLst/>
          </a:prstGeom>
          <a:noFill/>
          <a:ln w="19050">
            <a:solidFill>
              <a:srgbClr val="4A5E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523744" y="1600200"/>
            <a:ext cx="914400" cy="914400"/>
          </a:xfrm>
          <a:prstGeom prst="ellipse">
            <a:avLst/>
          </a:prstGeom>
          <a:solidFill>
            <a:srgbClr val="2D5BA8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183794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23744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2203704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2157984" y="30632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&amp; clean 2 yrs of </a:t>
            </a:r>
            <a:b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data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483864" y="2057400"/>
            <a:ext cx="411480" cy="0"/>
          </a:xfrm>
          <a:prstGeom prst="line">
            <a:avLst/>
          </a:prstGeom>
          <a:noFill/>
          <a:ln w="19050">
            <a:solidFill>
              <a:srgbClr val="4A5E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224528" y="1600200"/>
            <a:ext cx="914400" cy="914400"/>
          </a:xfrm>
          <a:prstGeom prst="ellipse">
            <a:avLst/>
          </a:prstGeom>
          <a:solidFill>
            <a:srgbClr val="2D5BA8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1837944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224528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3904488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3858768" y="30632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violent crime, </a:t>
            </a:r>
            <a:b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day-of-week, crime ÷24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184648" y="2057400"/>
            <a:ext cx="411480" cy="0"/>
          </a:xfrm>
          <a:prstGeom prst="line">
            <a:avLst/>
          </a:prstGeom>
          <a:noFill/>
          <a:ln w="19050">
            <a:solidFill>
              <a:srgbClr val="4A5E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5925312" y="1600200"/>
            <a:ext cx="914400" cy="914400"/>
          </a:xfrm>
          <a:prstGeom prst="ellipse">
            <a:avLst/>
          </a:prstGeom>
          <a:solidFill>
            <a:srgbClr val="2D5BA8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837944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925312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605272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5559552" y="30632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districts, find the patterns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6885432" y="2057400"/>
            <a:ext cx="411480" cy="0"/>
          </a:xfrm>
          <a:prstGeom prst="line">
            <a:avLst/>
          </a:prstGeom>
          <a:noFill/>
          <a:ln w="19050">
            <a:solidFill>
              <a:srgbClr val="4A5E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7626096" y="1600200"/>
            <a:ext cx="914400" cy="914400"/>
          </a:xfrm>
          <a:prstGeom prst="ellipse">
            <a:avLst/>
          </a:prstGeom>
          <a:solidFill>
            <a:srgbClr val="1F9D6B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837944"/>
            <a:ext cx="438912" cy="43891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626096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7306056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7260336" y="30632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+ this deck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recommendation you can defend - and a tool to re-run for any address.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FINDING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Edgewater is the safest district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371600"/>
          <a:ext cx="580644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1463040"/>
            <a:ext cx="2194560" cy="3246120"/>
          </a:xfrm>
          <a:prstGeom prst="roundRect">
            <a:avLst>
              <a:gd name="adj" fmla="val 3333"/>
            </a:avLst>
          </a:prstGeom>
          <a:solidFill>
            <a:srgbClr val="EDF6F1"/>
          </a:solidFill>
          <a:ln w="12700">
            <a:solidFill>
              <a:srgbClr val="CDE9DC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675120" y="1664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VIOLENT CRIME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675120" y="20574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9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675120" y="27249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Edgewater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675120" y="312724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~129</a:t>
            </a:r>
            <a:r>
              <a:rPr lang="en-US" sz="13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violent / month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75120" y="352044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lowest on TOTAL crime - safest on both measures.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7548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violent incidents per month, by police district (sorted).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FINDING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crime alone is misleading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idea, three districts: a low total doesn't mean safe. Austin proves it - modest volume, but the highest violent share in the city.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DF6F1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3042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Edgewater · D20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9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30.6%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456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share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767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 total/mo   ·   128.6 violent/mo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4069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total, low violence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18745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BEDEC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204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64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20440" y="23042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Austin · D15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520440" y="27432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64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44.4%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520440" y="3456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share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3767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662 total/mo   ·   294 violent/mo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20440" y="4069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Low-ish total, HIGH violence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18745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BF3E3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0936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B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23042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Loop · D1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09360" y="27432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B9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25.9%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309360" y="3456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share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09360" y="3767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1137 total/mo   ·   294.5 violent/mo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09360" y="4069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total, lower violent share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Citywide violent share ≈ 35%. Austin sits at 44% despite below-median total crime.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FINDING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Living closer to the office isn't safer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554480"/>
          <a:ext cx="484632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532120" y="1783080"/>
            <a:ext cx="3108960" cy="2377440"/>
          </a:xfrm>
          <a:prstGeom prst="roundRect">
            <a:avLst>
              <a:gd name="adj" fmla="val 3846"/>
            </a:avLst>
          </a:prstGeom>
          <a:solidFill>
            <a:srgbClr val="14233A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715000" y="196596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6FE3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2.3×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5760720" y="2880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violent crime in the Loop than in Edgewater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760720" y="36118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~295 vs ~129 violent incidents per month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Downtown has more crime, not less - proximity to the office works against safety.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FINDING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of day matters more than day of week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50876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355080" y="155448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EDF6F1"/>
          </a:solidFill>
          <a:ln w="12700">
            <a:solidFill>
              <a:srgbClr val="CDE9DC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53796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SAFEST WINDOW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53796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9D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2-7 AM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37960" y="248716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 bottoms out overnight, peaks midday-evening.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355080" y="315468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5F7F9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537960" y="3319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OF WEEK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537960" y="3566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Flat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537960" y="408736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~1-point spread - the day you go out barely matters.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" y="47548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all incidents by hour. (The 00:00 bar is inflated by unknown-time reports.)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RECOMMENDATIONS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neighborhoods that fit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2898648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Neighborhood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Violent/mo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Commute to the Loop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9D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Edgewater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Line direct, ~35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all-around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9D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Beverly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Metra Rock Island → LaSalle, ~25-30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Easiest commute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9D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Logan Square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Line direct, ~20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9D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Line direct, ~40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Quietest feel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9D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Albany Park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 Line, ~45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pick: Edgewater</a:t>
            </a: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safest overall.   </a:t>
            </a:r>
            <a:r>
              <a:rPr lang="en-US" sz="1250" b="1" dirty="0">
                <a:solidFill>
                  <a:srgbClr val="2D5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Easiest commute: Beverly</a:t>
            </a:r>
            <a:r>
              <a:rPr lang="en-US" sz="12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Metra drops you a block from the office.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THE DELIVERABLE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interactive atlas - not just a report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2234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1783080"/>
            <a:ext cx="685800" cy="685800"/>
          </a:xfrm>
          <a:prstGeom prst="ellipse">
            <a:avLst/>
          </a:prstGeom>
          <a:solidFill>
            <a:srgbClr val="16314F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196138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099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any layer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54480" y="20756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 districts, wards, or beats by violent or total crime.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54880" y="15087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2234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956048" y="1783080"/>
            <a:ext cx="685800" cy="685800"/>
          </a:xfrm>
          <a:prstGeom prst="ellipse">
            <a:avLst/>
          </a:prstGeom>
          <a:solidFill>
            <a:srgbClr val="16314F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4356" y="196138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806440" y="170992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any address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806440" y="20756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its ½-mile crime count and nearest CTA/Metra stop.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02920" y="29260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2234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04088" y="3200400"/>
            <a:ext cx="685800" cy="685800"/>
          </a:xfrm>
          <a:prstGeom prst="ellipse">
            <a:avLst/>
          </a:prstGeom>
          <a:solidFill>
            <a:srgbClr val="16314F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396" y="33787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31272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the commute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54480" y="34930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driving route + walk + transit time to the Loop.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754880" y="29260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2234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956048" y="3200400"/>
            <a:ext cx="685800" cy="685800"/>
          </a:xfrm>
          <a:prstGeom prst="ellipse">
            <a:avLst/>
          </a:prstGeom>
          <a:solidFill>
            <a:srgbClr val="16314F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4356" y="33787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806440" y="31272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recommendation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806440" y="34930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walk vs. transit automatically by distance.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0292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9F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techwithvictoria.github.io/chicago-crime-dashboard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· 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I'd do with more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22376" y="1819656"/>
            <a:ext cx="658368" cy="658368"/>
          </a:xfrm>
          <a:prstGeom prst="ellipse">
            <a:avLst/>
          </a:prstGeom>
          <a:solidFill>
            <a:srgbClr val="2D5BA8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552" y="1990832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282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Per-capita rates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54480" y="2093976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district population to normalize for size - fairer than raw counts.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54880" y="15087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974336" y="1819656"/>
            <a:ext cx="658368" cy="658368"/>
          </a:xfrm>
          <a:prstGeom prst="ellipse">
            <a:avLst/>
          </a:prstGeom>
          <a:solidFill>
            <a:srgbClr val="DB9A2E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12" y="1990832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806440" y="17282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transit times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806440" y="2093976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transit API for exact door-to-door commute minutes in-app.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02920" y="29718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22376" y="3282696"/>
            <a:ext cx="658368" cy="658368"/>
          </a:xfrm>
          <a:prstGeom prst="ellipse">
            <a:avLst/>
          </a:prstGeom>
          <a:solidFill>
            <a:srgbClr val="2D5BA8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552" y="3453872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31912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history &amp; trends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54480" y="3557016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beyond 2 years to test whether areas are improving or worsening.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754880" y="29718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12700">
            <a:solidFill>
              <a:srgbClr val="E4E8EE"/>
            </a:solidFill>
            <a:prstDash val="solid"/>
          </a:ln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974336" y="3282696"/>
            <a:ext cx="658368" cy="658368"/>
          </a:xfrm>
          <a:prstGeom prst="ellipse">
            <a:avLst/>
          </a:prstGeom>
          <a:solidFill>
            <a:srgbClr val="DB9A2E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512" y="3453872"/>
            <a:ext cx="316017" cy="31601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806440" y="31912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&amp; amenities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806440" y="3557016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6B7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 rent, schools, and grocery access for a true livability score.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2743200"/>
            <a:ext cx="3657600" cy="3657600"/>
          </a:xfrm>
          <a:prstGeom prst="ellipse">
            <a:avLst/>
          </a:prstGeom>
          <a:solidFill>
            <a:srgbClr val="2234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1280160"/>
            <a:ext cx="3291840" cy="3291840"/>
          </a:xfrm>
          <a:prstGeom prst="ellipse">
            <a:avLst/>
          </a:prstGeom>
          <a:solidFill>
            <a:srgbClr val="2234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68680" cy="868680"/>
          </a:xfrm>
          <a:prstGeom prst="ellipse">
            <a:avLst/>
          </a:prstGeom>
          <a:solidFill>
            <a:srgbClr val="1F9D6B"/>
          </a:solidFill>
          <a:ln/>
          <a:effectLst>
            <a:outerShdw blurRad="88900" dist="38100" dir="5400000" algn="bl" rotWithShape="0">
              <a:srgbClr val="8794A8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77" y="1094537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F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21488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Edgewater is the safest bet, the Loop is riskier than it looks, and every safe pick still reaches the office.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4864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475,651 incidents  ·  ranked on violent crime  ·  matched to commute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 </a:t>
            </a:r>
            <a:r>
              <a:rPr lang="en-US" sz="1400" dirty="0">
                <a:solidFill>
                  <a:srgbClr val="9FE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techwithvictoria.github.io/chicago-crime-dashboard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1497</Words>
  <Application>Microsoft Office PowerPoint</Application>
  <PresentationFormat>On-screen Show (16:9)</PresentationFormat>
  <Paragraphs>193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Chicago Safety &amp; Commute Atlas</dc:title>
  <dc:subject>PptxGenJS Presentation</dc:subject>
  <dc:creator>Victoria</dc:creator>
  <cp:lastModifiedBy>Victoria Nguyen</cp:lastModifiedBy>
  <cp:revision>1</cp:revision>
  <dcterms:created xsi:type="dcterms:W3CDTF">2026-06-16T20:03:54Z</dcterms:created>
  <dcterms:modified xsi:type="dcterms:W3CDTF">2026-06-16T22:26:27Z</dcterms:modified>
</cp:coreProperties>
</file>